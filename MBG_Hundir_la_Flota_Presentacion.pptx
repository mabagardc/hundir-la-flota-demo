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0990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919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850966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136588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472938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712355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563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67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925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00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785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289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55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505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596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433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325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934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992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460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7579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86810" name="Shape 0"/>
          <p:cNvSpPr/>
          <p:nvPr/>
        </p:nvSpPr>
        <p:spPr bwMode="auto"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6393183" name="Text 1"/>
          <p:cNvSpPr/>
          <p:nvPr/>
        </p:nvSpPr>
        <p:spPr bwMode="auto">
          <a:xfrm>
            <a:off x="50292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HUNDIR LA FLOTA</a:t>
            </a:r>
            <a:endParaRPr lang="en-US" sz="900"/>
          </a:p>
        </p:txBody>
      </p:sp>
      <p:sp>
        <p:nvSpPr>
          <p:cNvPr id="1981311903" name="Text 2"/>
          <p:cNvSpPr/>
          <p:nvPr/>
        </p:nvSpPr>
        <p:spPr bwMode="auto">
          <a:xfrm>
            <a:off x="9464040" y="6510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CA3AF"/>
                </a:solidFill>
                <a:latin typeface="Aptos"/>
                <a:ea typeface="Aptos"/>
                <a:cs typeface="Aptos"/>
              </a:rPr>
              <a:t>Proyecto individual · Python</a:t>
            </a:r>
            <a:endParaRPr lang="en-US" sz="900"/>
          </a:p>
        </p:txBody>
      </p:sp>
      <p:sp>
        <p:nvSpPr>
          <p:cNvPr id="32741378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67077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91414" name="Rectangle 1"/>
          <p:cNvSpPr/>
          <p:nvPr/>
        </p:nvSpPr>
        <p:spPr bwMode="auto">
          <a:xfrm>
            <a:off x="18287" y="0"/>
            <a:ext cx="6492240" cy="6858000"/>
          </a:xfrm>
          <a:prstGeom prst="rect">
            <a:avLst/>
          </a:prstGeom>
          <a:solidFill>
            <a:srgbClr val="11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754497" name="Rectangle 2"/>
          <p:cNvSpPr/>
          <p:nvPr/>
        </p:nvSpPr>
        <p:spPr bwMode="auto">
          <a:xfrm>
            <a:off x="658368" y="941832"/>
            <a:ext cx="658368" cy="73152"/>
          </a:xfrm>
          <a:prstGeom prst="rect">
            <a:avLst/>
          </a:prstGeom>
          <a:solidFill>
            <a:srgbClr val="4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282026" name="TextBox 3"/>
          <p:cNvSpPr txBox="1"/>
          <p:nvPr/>
        </p:nvSpPr>
        <p:spPr bwMode="auto">
          <a:xfrm>
            <a:off x="658368" y="429768"/>
            <a:ext cx="3017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0DFD9"/>
                </a:solidFill>
              </a:defRPr>
            </a:pPr>
            <a:r>
              <a:rPr/>
              <a:t>PROYECTO INDIVIDUAL · PYTHON</a:t>
            </a:r>
            <a:endParaRPr/>
          </a:p>
        </p:txBody>
      </p:sp>
      <p:sp>
        <p:nvSpPr>
          <p:cNvPr id="1197150220" name="TextBox 4"/>
          <p:cNvSpPr txBox="1"/>
          <p:nvPr/>
        </p:nvSpPr>
        <p:spPr bwMode="auto">
          <a:xfrm>
            <a:off x="658368" y="1161288"/>
            <a:ext cx="5212080" cy="150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/>
              <a:t>HUNDIR</a:t>
            </a:r>
            <a:endParaRPr/>
          </a:p>
          <a:p>
            <a:pPr>
              <a:defRPr sz="4800" b="1">
                <a:solidFill>
                  <a:srgbClr val="FFFFFF"/>
                </a:solidFill>
              </a:defRPr>
            </a:pPr>
            <a:r>
              <a:rPr/>
              <a:t>LA FLOTA</a:t>
            </a:r>
            <a:endParaRPr/>
          </a:p>
        </p:txBody>
      </p:sp>
      <p:sp>
        <p:nvSpPr>
          <p:cNvPr id="533410242" name="TextBox 5"/>
          <p:cNvSpPr txBox="1"/>
          <p:nvPr/>
        </p:nvSpPr>
        <p:spPr bwMode="auto">
          <a:xfrm>
            <a:off x="658368" y="2852928"/>
            <a:ext cx="5393716" cy="772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8EFF7"/>
                </a:solidFill>
              </a:defRPr>
            </a:pPr>
            <a:r>
              <a:rPr/>
              <a:t>Juego </a:t>
            </a:r>
            <a:r>
              <a:rPr lang="es-ES"/>
              <a:t>por </a:t>
            </a:r>
            <a:r>
              <a:rPr/>
              <a:t>terminal contra la máquina</a:t>
            </a:r>
            <a:endParaRPr/>
          </a:p>
          <a:p>
            <a:pPr>
              <a:spcBef>
                <a:spcPts val="800"/>
              </a:spcBef>
              <a:defRPr sz="1500">
                <a:solidFill>
                  <a:srgbClr val="AFBED0"/>
                </a:solidFill>
              </a:defRPr>
            </a:pPr>
            <a:r>
              <a:rPr/>
              <a:t>Barcos </a:t>
            </a:r>
            <a:r>
              <a:rPr lang="es-ES"/>
              <a:t>aleatorios </a:t>
            </a:r>
            <a:r>
              <a:rPr/>
              <a:t>· turnos · validaciones · victoria</a:t>
            </a:r>
            <a:endParaRPr/>
          </a:p>
        </p:txBody>
      </p:sp>
      <p:sp>
        <p:nvSpPr>
          <p:cNvPr id="796829199" name="TextBox 8"/>
          <p:cNvSpPr txBox="1"/>
          <p:nvPr/>
        </p:nvSpPr>
        <p:spPr bwMode="auto">
          <a:xfrm>
            <a:off x="658368" y="5870448"/>
            <a:ext cx="2927606" cy="442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97AAC0"/>
                </a:solidFill>
              </a:defRPr>
            </a:pPr>
            <a:r>
              <a:rPr sz="1300" b="1"/>
              <a:t>María Balagué</a:t>
            </a:r>
            <a:r>
              <a:rPr lang="es-ES" sz="1300" b="1"/>
              <a:t> García</a:t>
            </a:r>
            <a:r>
              <a:rPr sz="1300" b="1"/>
              <a:t>  ·  16/10/2026</a:t>
            </a:r>
            <a:endParaRPr/>
          </a:p>
          <a:p>
            <a:pPr algn="l">
              <a:defRPr/>
            </a:pPr>
            <a:r>
              <a:rPr sz="1000">
                <a:solidFill>
                  <a:schemeClr val="bg1"/>
                </a:solidFill>
              </a:rPr>
              <a:t>NumPy  ·  random  ·  utils.py  ·  main.py</a:t>
            </a:r>
            <a:endParaRPr/>
          </a:p>
        </p:txBody>
      </p:sp>
      <p:sp>
        <p:nvSpPr>
          <p:cNvPr id="84588600" name="TextBox 9"/>
          <p:cNvSpPr txBox="1"/>
          <p:nvPr/>
        </p:nvSpPr>
        <p:spPr bwMode="auto">
          <a:xfrm>
            <a:off x="6976872" y="6583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C4E64"/>
                </a:solidFill>
              </a:defRPr>
            </a:pPr>
            <a:r>
              <a:rPr/>
              <a:t>LÓGICA DEL JUEGO</a:t>
            </a:r>
            <a:endParaRPr/>
          </a:p>
        </p:txBody>
      </p:sp>
      <p:sp>
        <p:nvSpPr>
          <p:cNvPr id="128482904" name="Rounded Rectangle 10"/>
          <p:cNvSpPr/>
          <p:nvPr/>
        </p:nvSpPr>
        <p:spPr bwMode="auto">
          <a:xfrm>
            <a:off x="6931152" y="1170432"/>
            <a:ext cx="4462272" cy="44622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972352" name="Rectangle 11"/>
          <p:cNvSpPr/>
          <p:nvPr/>
        </p:nvSpPr>
        <p:spPr bwMode="auto">
          <a:xfrm>
            <a:off x="7278624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9047095" name="Rectangle 12"/>
          <p:cNvSpPr/>
          <p:nvPr/>
        </p:nvSpPr>
        <p:spPr bwMode="auto">
          <a:xfrm>
            <a:off x="7708392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3825290" name="Rectangle 13"/>
          <p:cNvSpPr/>
          <p:nvPr/>
        </p:nvSpPr>
        <p:spPr bwMode="auto">
          <a:xfrm>
            <a:off x="8138160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9489681" name="Rectangle 14"/>
          <p:cNvSpPr/>
          <p:nvPr/>
        </p:nvSpPr>
        <p:spPr bwMode="auto">
          <a:xfrm>
            <a:off x="8567928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4141173" name="Rectangle 15"/>
          <p:cNvSpPr/>
          <p:nvPr/>
        </p:nvSpPr>
        <p:spPr bwMode="auto">
          <a:xfrm>
            <a:off x="8997696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6507200" name="Rectangle 16"/>
          <p:cNvSpPr/>
          <p:nvPr/>
        </p:nvSpPr>
        <p:spPr bwMode="auto">
          <a:xfrm>
            <a:off x="9427463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3124324" name="Rectangle 17"/>
          <p:cNvSpPr/>
          <p:nvPr/>
        </p:nvSpPr>
        <p:spPr bwMode="auto">
          <a:xfrm>
            <a:off x="9857232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506979" name="Rectangle 18"/>
          <p:cNvSpPr/>
          <p:nvPr/>
        </p:nvSpPr>
        <p:spPr bwMode="auto">
          <a:xfrm>
            <a:off x="10287000" y="1536192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989274" name="Rectangle 19"/>
          <p:cNvSpPr/>
          <p:nvPr/>
        </p:nvSpPr>
        <p:spPr bwMode="auto">
          <a:xfrm>
            <a:off x="7278624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680070" name="Rectangle 20"/>
          <p:cNvSpPr/>
          <p:nvPr/>
        </p:nvSpPr>
        <p:spPr bwMode="auto">
          <a:xfrm>
            <a:off x="7708392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6039656" name="Rectangle 21"/>
          <p:cNvSpPr/>
          <p:nvPr/>
        </p:nvSpPr>
        <p:spPr bwMode="auto">
          <a:xfrm>
            <a:off x="8138160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2128246" name="Rectangle 22"/>
          <p:cNvSpPr/>
          <p:nvPr/>
        </p:nvSpPr>
        <p:spPr bwMode="auto">
          <a:xfrm>
            <a:off x="8567928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218253" name="Rectangle 23"/>
          <p:cNvSpPr/>
          <p:nvPr/>
        </p:nvSpPr>
        <p:spPr bwMode="auto">
          <a:xfrm>
            <a:off x="8997696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911987" name="Rectangle 24"/>
          <p:cNvSpPr/>
          <p:nvPr/>
        </p:nvSpPr>
        <p:spPr bwMode="auto">
          <a:xfrm>
            <a:off x="9427463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8613287" name="Rectangle 25"/>
          <p:cNvSpPr/>
          <p:nvPr/>
        </p:nvSpPr>
        <p:spPr bwMode="auto">
          <a:xfrm>
            <a:off x="9857232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147140" name="Rectangle 26"/>
          <p:cNvSpPr/>
          <p:nvPr/>
        </p:nvSpPr>
        <p:spPr bwMode="auto">
          <a:xfrm>
            <a:off x="10287000" y="196596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3420998" name="Rectangle 27"/>
          <p:cNvSpPr/>
          <p:nvPr/>
        </p:nvSpPr>
        <p:spPr bwMode="auto">
          <a:xfrm>
            <a:off x="7278624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0245608" name="Rectangle 28"/>
          <p:cNvSpPr/>
          <p:nvPr/>
        </p:nvSpPr>
        <p:spPr bwMode="auto">
          <a:xfrm>
            <a:off x="7708392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1122236" name="Rectangle 29"/>
          <p:cNvSpPr/>
          <p:nvPr/>
        </p:nvSpPr>
        <p:spPr bwMode="auto">
          <a:xfrm>
            <a:off x="8138160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2357447" name="Rectangle 30"/>
          <p:cNvSpPr/>
          <p:nvPr/>
        </p:nvSpPr>
        <p:spPr bwMode="auto">
          <a:xfrm>
            <a:off x="8567928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158010" name="Rectangle 31"/>
          <p:cNvSpPr/>
          <p:nvPr/>
        </p:nvSpPr>
        <p:spPr bwMode="auto">
          <a:xfrm>
            <a:off x="8997696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4045342" name="Rectangle 32"/>
          <p:cNvSpPr/>
          <p:nvPr/>
        </p:nvSpPr>
        <p:spPr bwMode="auto">
          <a:xfrm>
            <a:off x="9427463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1576025" name="Rectangle 33"/>
          <p:cNvSpPr/>
          <p:nvPr/>
        </p:nvSpPr>
        <p:spPr bwMode="auto">
          <a:xfrm>
            <a:off x="9857232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506719" name="Rectangle 34"/>
          <p:cNvSpPr/>
          <p:nvPr/>
        </p:nvSpPr>
        <p:spPr bwMode="auto">
          <a:xfrm>
            <a:off x="10287000" y="239572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0968496" name="Rectangle 35"/>
          <p:cNvSpPr/>
          <p:nvPr/>
        </p:nvSpPr>
        <p:spPr bwMode="auto">
          <a:xfrm>
            <a:off x="7278624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0625127" name="Rectangle 36"/>
          <p:cNvSpPr/>
          <p:nvPr/>
        </p:nvSpPr>
        <p:spPr bwMode="auto">
          <a:xfrm>
            <a:off x="7708392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1627294" name="Rectangle 37"/>
          <p:cNvSpPr/>
          <p:nvPr/>
        </p:nvSpPr>
        <p:spPr bwMode="auto">
          <a:xfrm>
            <a:off x="8138160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978133" name="Rectangle 38"/>
          <p:cNvSpPr/>
          <p:nvPr/>
        </p:nvSpPr>
        <p:spPr bwMode="auto">
          <a:xfrm>
            <a:off x="8567928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4141461" name="Rectangle 39"/>
          <p:cNvSpPr/>
          <p:nvPr/>
        </p:nvSpPr>
        <p:spPr bwMode="auto">
          <a:xfrm>
            <a:off x="8997696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732890" name="Rectangle 40"/>
          <p:cNvSpPr/>
          <p:nvPr/>
        </p:nvSpPr>
        <p:spPr bwMode="auto">
          <a:xfrm>
            <a:off x="9427463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9688359" name="Rectangle 41"/>
          <p:cNvSpPr/>
          <p:nvPr/>
        </p:nvSpPr>
        <p:spPr bwMode="auto">
          <a:xfrm>
            <a:off x="9857232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832957" name="Rectangle 42"/>
          <p:cNvSpPr/>
          <p:nvPr/>
        </p:nvSpPr>
        <p:spPr bwMode="auto">
          <a:xfrm>
            <a:off x="10287000" y="2825496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6274739" name="Rectangle 43"/>
          <p:cNvSpPr/>
          <p:nvPr/>
        </p:nvSpPr>
        <p:spPr bwMode="auto">
          <a:xfrm>
            <a:off x="7278624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933218" name="Rectangle 44"/>
          <p:cNvSpPr/>
          <p:nvPr/>
        </p:nvSpPr>
        <p:spPr bwMode="auto">
          <a:xfrm>
            <a:off x="7708392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4640719" name="Rectangle 45"/>
          <p:cNvSpPr/>
          <p:nvPr/>
        </p:nvSpPr>
        <p:spPr bwMode="auto">
          <a:xfrm>
            <a:off x="8138160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0026674" name="Rectangle 46"/>
          <p:cNvSpPr/>
          <p:nvPr/>
        </p:nvSpPr>
        <p:spPr bwMode="auto">
          <a:xfrm>
            <a:off x="8567928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687711" name="Rectangle 47"/>
          <p:cNvSpPr/>
          <p:nvPr/>
        </p:nvSpPr>
        <p:spPr bwMode="auto">
          <a:xfrm>
            <a:off x="8997696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061712" name="Rectangle 48"/>
          <p:cNvSpPr/>
          <p:nvPr/>
        </p:nvSpPr>
        <p:spPr bwMode="auto">
          <a:xfrm>
            <a:off x="9427463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670822" name="Rectangle 49"/>
          <p:cNvSpPr/>
          <p:nvPr/>
        </p:nvSpPr>
        <p:spPr bwMode="auto">
          <a:xfrm>
            <a:off x="9857232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950651" name="Rectangle 50"/>
          <p:cNvSpPr/>
          <p:nvPr/>
        </p:nvSpPr>
        <p:spPr bwMode="auto">
          <a:xfrm>
            <a:off x="10287000" y="3255263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900263" name="Rectangle 51"/>
          <p:cNvSpPr/>
          <p:nvPr/>
        </p:nvSpPr>
        <p:spPr bwMode="auto">
          <a:xfrm>
            <a:off x="7278624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2679820" name="Rectangle 52"/>
          <p:cNvSpPr/>
          <p:nvPr/>
        </p:nvSpPr>
        <p:spPr bwMode="auto">
          <a:xfrm>
            <a:off x="7708392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9274281" name="Rectangle 53"/>
          <p:cNvSpPr/>
          <p:nvPr/>
        </p:nvSpPr>
        <p:spPr bwMode="auto">
          <a:xfrm>
            <a:off x="8138160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0357529" name="Rectangle 54"/>
          <p:cNvSpPr/>
          <p:nvPr/>
        </p:nvSpPr>
        <p:spPr bwMode="auto">
          <a:xfrm>
            <a:off x="8567928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5614234" name="Rectangle 55"/>
          <p:cNvSpPr/>
          <p:nvPr/>
        </p:nvSpPr>
        <p:spPr bwMode="auto">
          <a:xfrm>
            <a:off x="8997696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014584" name="Rectangle 56"/>
          <p:cNvSpPr/>
          <p:nvPr/>
        </p:nvSpPr>
        <p:spPr bwMode="auto">
          <a:xfrm>
            <a:off x="9427463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706942" name="Rectangle 57"/>
          <p:cNvSpPr/>
          <p:nvPr/>
        </p:nvSpPr>
        <p:spPr bwMode="auto">
          <a:xfrm>
            <a:off x="9857232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98750" name="Rectangle 58"/>
          <p:cNvSpPr/>
          <p:nvPr/>
        </p:nvSpPr>
        <p:spPr bwMode="auto">
          <a:xfrm>
            <a:off x="10287000" y="3685031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192237" name="Rectangle 59"/>
          <p:cNvSpPr/>
          <p:nvPr/>
        </p:nvSpPr>
        <p:spPr bwMode="auto">
          <a:xfrm>
            <a:off x="7278624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1135074" name="Rectangle 60"/>
          <p:cNvSpPr/>
          <p:nvPr/>
        </p:nvSpPr>
        <p:spPr bwMode="auto">
          <a:xfrm>
            <a:off x="7708392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0885619" name="Rectangle 61"/>
          <p:cNvSpPr/>
          <p:nvPr/>
        </p:nvSpPr>
        <p:spPr bwMode="auto">
          <a:xfrm>
            <a:off x="8138160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2582552" name="Rectangle 62"/>
          <p:cNvSpPr/>
          <p:nvPr/>
        </p:nvSpPr>
        <p:spPr bwMode="auto">
          <a:xfrm>
            <a:off x="8567928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7474991" name="Rectangle 63"/>
          <p:cNvSpPr/>
          <p:nvPr/>
        </p:nvSpPr>
        <p:spPr bwMode="auto">
          <a:xfrm>
            <a:off x="8997696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106077" name="Rectangle 64"/>
          <p:cNvSpPr/>
          <p:nvPr/>
        </p:nvSpPr>
        <p:spPr bwMode="auto">
          <a:xfrm>
            <a:off x="9427463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2324957" name="Rectangle 65"/>
          <p:cNvSpPr/>
          <p:nvPr/>
        </p:nvSpPr>
        <p:spPr bwMode="auto">
          <a:xfrm>
            <a:off x="9857232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5041614" name="Rectangle 66"/>
          <p:cNvSpPr/>
          <p:nvPr/>
        </p:nvSpPr>
        <p:spPr bwMode="auto">
          <a:xfrm>
            <a:off x="10287000" y="4114800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518334" name="Rectangle 67"/>
          <p:cNvSpPr/>
          <p:nvPr/>
        </p:nvSpPr>
        <p:spPr bwMode="auto">
          <a:xfrm>
            <a:off x="7278624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0839035" name="Rectangle 68"/>
          <p:cNvSpPr/>
          <p:nvPr/>
        </p:nvSpPr>
        <p:spPr bwMode="auto">
          <a:xfrm>
            <a:off x="7708392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365251" name="Rectangle 69"/>
          <p:cNvSpPr/>
          <p:nvPr/>
        </p:nvSpPr>
        <p:spPr bwMode="auto">
          <a:xfrm>
            <a:off x="8138160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6452271" name="Rectangle 70"/>
          <p:cNvSpPr/>
          <p:nvPr/>
        </p:nvSpPr>
        <p:spPr bwMode="auto">
          <a:xfrm>
            <a:off x="8567928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481477" name="Rectangle 71"/>
          <p:cNvSpPr/>
          <p:nvPr/>
        </p:nvSpPr>
        <p:spPr bwMode="auto">
          <a:xfrm>
            <a:off x="8997696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9931364" name="Rectangle 72"/>
          <p:cNvSpPr/>
          <p:nvPr/>
        </p:nvSpPr>
        <p:spPr bwMode="auto">
          <a:xfrm>
            <a:off x="9427463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0962326" name="Rectangle 73"/>
          <p:cNvSpPr/>
          <p:nvPr/>
        </p:nvSpPr>
        <p:spPr bwMode="auto">
          <a:xfrm>
            <a:off x="9857232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598323" name="Rectangle 74"/>
          <p:cNvSpPr/>
          <p:nvPr/>
        </p:nvSpPr>
        <p:spPr bwMode="auto">
          <a:xfrm>
            <a:off x="10287000" y="4544568"/>
            <a:ext cx="397763" cy="397763"/>
          </a:xfrm>
          <a:prstGeom prst="rect">
            <a:avLst/>
          </a:prstGeom>
          <a:solidFill>
            <a:srgbClr val="EEF3F8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7679837" name="Rounded Rectangle 75"/>
          <p:cNvSpPr/>
          <p:nvPr/>
        </p:nvSpPr>
        <p:spPr bwMode="auto">
          <a:xfrm>
            <a:off x="7708392" y="196596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176046" name="Rounded Rectangle 76"/>
          <p:cNvSpPr/>
          <p:nvPr/>
        </p:nvSpPr>
        <p:spPr bwMode="auto">
          <a:xfrm>
            <a:off x="8138160" y="196596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1619330" name="Rounded Rectangle 77"/>
          <p:cNvSpPr/>
          <p:nvPr/>
        </p:nvSpPr>
        <p:spPr bwMode="auto">
          <a:xfrm>
            <a:off x="8567928" y="196596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916021" name="Rounded Rectangle 78"/>
          <p:cNvSpPr/>
          <p:nvPr/>
        </p:nvSpPr>
        <p:spPr bwMode="auto">
          <a:xfrm>
            <a:off x="9427463" y="3255263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4484562" name="Rounded Rectangle 79"/>
          <p:cNvSpPr/>
          <p:nvPr/>
        </p:nvSpPr>
        <p:spPr bwMode="auto">
          <a:xfrm>
            <a:off x="9427463" y="3685031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3925895" name="Rounded Rectangle 80"/>
          <p:cNvSpPr/>
          <p:nvPr/>
        </p:nvSpPr>
        <p:spPr bwMode="auto">
          <a:xfrm>
            <a:off x="9427463" y="411480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4613916" name="Rounded Rectangle 81"/>
          <p:cNvSpPr/>
          <p:nvPr/>
        </p:nvSpPr>
        <p:spPr bwMode="auto">
          <a:xfrm>
            <a:off x="7708392" y="411480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9004524" name="Rounded Rectangle 82"/>
          <p:cNvSpPr/>
          <p:nvPr/>
        </p:nvSpPr>
        <p:spPr bwMode="auto">
          <a:xfrm>
            <a:off x="8138160" y="4114800"/>
            <a:ext cx="397763" cy="397763"/>
          </a:xfrm>
          <a:prstGeom prst="roundRect">
            <a:avLst>
              <a:gd name="adj" fmla="val 16667"/>
            </a:avLst>
          </a:prstGeom>
          <a:solidFill>
            <a:srgbClr val="39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834075" name="TextBox 83"/>
          <p:cNvSpPr txBox="1"/>
          <p:nvPr/>
        </p:nvSpPr>
        <p:spPr bwMode="auto">
          <a:xfrm>
            <a:off x="8138160" y="1975103"/>
            <a:ext cx="397763" cy="3977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C04646"/>
                </a:solidFill>
              </a:defRPr>
            </a:pPr>
            <a:r>
              <a:rPr/>
              <a:t>X</a:t>
            </a:r>
            <a:endParaRPr/>
          </a:p>
        </p:txBody>
      </p:sp>
      <p:sp>
        <p:nvSpPr>
          <p:cNvPr id="117299105" name="TextBox 84"/>
          <p:cNvSpPr txBox="1"/>
          <p:nvPr/>
        </p:nvSpPr>
        <p:spPr bwMode="auto">
          <a:xfrm>
            <a:off x="9857232" y="2834639"/>
            <a:ext cx="397763" cy="3977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5658B"/>
                </a:solidFill>
              </a:defRPr>
            </a:pPr>
            <a:r>
              <a:rPr/>
              <a:t>A</a:t>
            </a:r>
            <a:endParaRPr/>
          </a:p>
        </p:txBody>
      </p:sp>
      <p:sp>
        <p:nvSpPr>
          <p:cNvPr id="636128539" name="TextBox 85"/>
          <p:cNvSpPr txBox="1"/>
          <p:nvPr/>
        </p:nvSpPr>
        <p:spPr bwMode="auto">
          <a:xfrm>
            <a:off x="7013448" y="5797296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C4E64"/>
                </a:solidFill>
              </a:defRPr>
            </a:pPr>
            <a:r>
              <a:rPr/>
              <a:t>O  barco     X  tocado     A  agua</a:t>
            </a:r>
            <a:endParaRPr/>
          </a:p>
          <a:p>
            <a:pPr>
              <a:spcBef>
                <a:spcPts val="500"/>
              </a:spcBef>
              <a:defRPr sz="1100">
                <a:solidFill>
                  <a:srgbClr val="6F7F91"/>
                </a:solidFill>
              </a:defRPr>
            </a:pPr>
            <a:r>
              <a:rPr/>
              <a:t>Jugador vs máquina · tablero 10 ×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036506" name="Text 0"/>
          <p:cNvSpPr/>
          <p:nvPr/>
        </p:nvSpPr>
        <p:spPr bwMode="auto">
          <a:xfrm>
            <a:off x="59436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s-ES" sz="2700" b="1">
                <a:solidFill>
                  <a:srgbClr val="10263D"/>
                </a:solidFill>
                <a:latin typeface="Aptos Display"/>
                <a:ea typeface="Aptos Display"/>
                <a:cs typeface="Aptos Display"/>
              </a:rPr>
              <a:t>1. Qué hace el juego</a:t>
            </a:r>
            <a:endParaRPr lang="en-US" sz="2700"/>
          </a:p>
        </p:txBody>
      </p:sp>
      <p:sp>
        <p:nvSpPr>
          <p:cNvPr id="754418889" name="Text 1"/>
          <p:cNvSpPr/>
          <p:nvPr/>
        </p:nvSpPr>
        <p:spPr bwMode="auto">
          <a:xfrm>
            <a:off x="612648" y="93268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s-ES" sz="1250">
                <a:solidFill>
                  <a:srgbClr val="6B7280"/>
                </a:solidFill>
              </a:rPr>
              <a:t>Reglas implementadas y estructura del proyecto</a:t>
            </a:r>
            <a:endParaRPr lang="en-US" sz="1250"/>
          </a:p>
        </p:txBody>
      </p:sp>
      <p:sp>
        <p:nvSpPr>
          <p:cNvPr id="628775916" name="Shape 2"/>
          <p:cNvSpPr/>
          <p:nvPr/>
        </p:nvSpPr>
        <p:spPr bwMode="auto">
          <a:xfrm>
            <a:off x="640080" y="14173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94995465" name="Shape 3"/>
          <p:cNvSpPr/>
          <p:nvPr/>
        </p:nvSpPr>
        <p:spPr bwMode="auto">
          <a:xfrm>
            <a:off x="640080" y="1417320"/>
            <a:ext cx="73152" cy="132588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519487132" name="Text 4"/>
          <p:cNvSpPr/>
          <p:nvPr/>
        </p:nvSpPr>
        <p:spPr bwMode="auto">
          <a:xfrm>
            <a:off x="841248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Tablero 10 × 10</a:t>
            </a:r>
            <a:endParaRPr lang="en-US" sz="1400"/>
          </a:p>
        </p:txBody>
      </p:sp>
      <p:sp>
        <p:nvSpPr>
          <p:cNvPr id="360190903" name="Text 5"/>
          <p:cNvSpPr/>
          <p:nvPr/>
        </p:nvSpPr>
        <p:spPr bwMode="auto">
          <a:xfrm>
            <a:off x="841248" y="1901952"/>
            <a:ext cx="18288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Cada jugador tiene su tablero. El </a:t>
            </a:r>
            <a:r>
              <a:rPr lang="es-ES" sz="1050">
                <a:solidFill>
                  <a:srgbClr val="6B7280"/>
                </a:solidFill>
              </a:rPr>
              <a:t>enemigo </a:t>
            </a:r>
            <a:r>
              <a:rPr lang="en-US" sz="1050">
                <a:solidFill>
                  <a:srgbClr val="6B7280"/>
                </a:solidFill>
              </a:rPr>
              <a:t>se muestra mediante un tablero visible sin sus barcos.</a:t>
            </a:r>
            <a:endParaRPr lang="en-US" sz="1050"/>
          </a:p>
        </p:txBody>
      </p:sp>
      <p:sp>
        <p:nvSpPr>
          <p:cNvPr id="179442242" name="Shape 6"/>
          <p:cNvSpPr/>
          <p:nvPr/>
        </p:nvSpPr>
        <p:spPr bwMode="auto">
          <a:xfrm>
            <a:off x="2944368" y="14173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2118371722" name="Shape 7"/>
          <p:cNvSpPr/>
          <p:nvPr/>
        </p:nvSpPr>
        <p:spPr bwMode="auto">
          <a:xfrm>
            <a:off x="2944368" y="1417320"/>
            <a:ext cx="73152" cy="1325880"/>
          </a:xfrm>
          <a:prstGeom prst="rect">
            <a:avLst/>
          </a:prstGeom>
          <a:solidFill>
            <a:srgbClr val="5AA9C9"/>
          </a:solidFill>
          <a:ln w="12700">
            <a:solidFill>
              <a:srgbClr val="5AA9C9"/>
            </a:solidFill>
            <a:prstDash val="solid"/>
          </a:ln>
        </p:spPr>
      </p:sp>
      <p:sp>
        <p:nvSpPr>
          <p:cNvPr id="794804350" name="Text 8"/>
          <p:cNvSpPr/>
          <p:nvPr/>
        </p:nvSpPr>
        <p:spPr bwMode="auto">
          <a:xfrm>
            <a:off x="3145536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6 barcos</a:t>
            </a:r>
            <a:endParaRPr lang="en-US" sz="1400"/>
          </a:p>
        </p:txBody>
      </p:sp>
      <p:sp>
        <p:nvSpPr>
          <p:cNvPr id="477703793" name="Text 9"/>
          <p:cNvSpPr/>
          <p:nvPr/>
        </p:nvSpPr>
        <p:spPr bwMode="auto">
          <a:xfrm>
            <a:off x="3145536" y="1901952"/>
            <a:ext cx="18288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3 de eslora 2 · 2 de eslora 3 · 1 de eslora 4.</a:t>
            </a:r>
            <a:endParaRPr lang="en-US" sz="1050"/>
          </a:p>
        </p:txBody>
      </p:sp>
      <p:sp>
        <p:nvSpPr>
          <p:cNvPr id="1212574752" name="Shape 10"/>
          <p:cNvSpPr/>
          <p:nvPr/>
        </p:nvSpPr>
        <p:spPr bwMode="auto">
          <a:xfrm>
            <a:off x="5248656" y="14173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370353567" name="Shape 11"/>
          <p:cNvSpPr/>
          <p:nvPr/>
        </p:nvSpPr>
        <p:spPr bwMode="auto">
          <a:xfrm>
            <a:off x="5248656" y="1417320"/>
            <a:ext cx="73152" cy="1325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77068955" name="Text 12"/>
          <p:cNvSpPr/>
          <p:nvPr/>
        </p:nvSpPr>
        <p:spPr bwMode="auto">
          <a:xfrm>
            <a:off x="5449823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Turnos</a:t>
            </a:r>
            <a:endParaRPr lang="en-US" sz="1400"/>
          </a:p>
        </p:txBody>
      </p:sp>
      <p:sp>
        <p:nvSpPr>
          <p:cNvPr id="625767225" name="Text 13"/>
          <p:cNvSpPr/>
          <p:nvPr/>
        </p:nvSpPr>
        <p:spPr bwMode="auto">
          <a:xfrm>
            <a:off x="5449823" y="1901952"/>
            <a:ext cx="18288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Si aciertas, vuelves a disparar. Si haces agua, cambia el turno.</a:t>
            </a:r>
            <a:endParaRPr lang="en-US" sz="1050"/>
          </a:p>
        </p:txBody>
      </p:sp>
      <p:sp>
        <p:nvSpPr>
          <p:cNvPr id="1763369311" name="Shape 14"/>
          <p:cNvSpPr/>
          <p:nvPr/>
        </p:nvSpPr>
        <p:spPr bwMode="auto">
          <a:xfrm>
            <a:off x="7552944" y="14173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312085206" name="Shape 15"/>
          <p:cNvSpPr/>
          <p:nvPr/>
        </p:nvSpPr>
        <p:spPr bwMode="auto">
          <a:xfrm>
            <a:off x="7552944" y="1417320"/>
            <a:ext cx="73152" cy="1325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81793723" name="Text 16"/>
          <p:cNvSpPr/>
          <p:nvPr/>
        </p:nvSpPr>
        <p:spPr bwMode="auto">
          <a:xfrm>
            <a:off x="7754112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Sin solapes</a:t>
            </a:r>
            <a:endParaRPr lang="en-US" sz="1400"/>
          </a:p>
        </p:txBody>
      </p:sp>
      <p:sp>
        <p:nvSpPr>
          <p:cNvPr id="1299334252" name="Text 17"/>
          <p:cNvSpPr/>
          <p:nvPr/>
        </p:nvSpPr>
        <p:spPr bwMode="auto">
          <a:xfrm>
            <a:off x="7754112" y="1901952"/>
            <a:ext cx="18288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Antes de colocar un barco se comprueba que ninguna casilla esté ocupada.</a:t>
            </a:r>
            <a:endParaRPr lang="en-US" sz="1050"/>
          </a:p>
        </p:txBody>
      </p:sp>
      <p:sp>
        <p:nvSpPr>
          <p:cNvPr id="65933480" name="Shape 18"/>
          <p:cNvSpPr/>
          <p:nvPr/>
        </p:nvSpPr>
        <p:spPr bwMode="auto">
          <a:xfrm>
            <a:off x="9857232" y="141732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437382733" name="Shape 19"/>
          <p:cNvSpPr/>
          <p:nvPr/>
        </p:nvSpPr>
        <p:spPr bwMode="auto">
          <a:xfrm>
            <a:off x="9857232" y="1417320"/>
            <a:ext cx="73152" cy="1325880"/>
          </a:xfrm>
          <a:prstGeom prst="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547192076" name="Text 20"/>
          <p:cNvSpPr/>
          <p:nvPr/>
        </p:nvSpPr>
        <p:spPr bwMode="auto">
          <a:xfrm>
            <a:off x="10058400" y="1563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Victoria</a:t>
            </a:r>
            <a:endParaRPr lang="en-US" sz="1400"/>
          </a:p>
        </p:txBody>
      </p:sp>
      <p:sp>
        <p:nvSpPr>
          <p:cNvPr id="866432152" name="Text 21"/>
          <p:cNvSpPr/>
          <p:nvPr/>
        </p:nvSpPr>
        <p:spPr bwMode="auto">
          <a:xfrm>
            <a:off x="10058400" y="1901952"/>
            <a:ext cx="13716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Gana quien deja al rival sin ninguna “O”.</a:t>
            </a:r>
            <a:endParaRPr lang="en-US" sz="1050"/>
          </a:p>
        </p:txBody>
      </p:sp>
      <p:sp>
        <p:nvSpPr>
          <p:cNvPr id="972135257" name="Text 22"/>
          <p:cNvSpPr/>
          <p:nvPr/>
        </p:nvSpPr>
        <p:spPr bwMode="auto">
          <a:xfrm>
            <a:off x="713232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0263D"/>
                </a:solidFill>
              </a:rPr>
              <a:t>Arquitectura</a:t>
            </a:r>
            <a:endParaRPr lang="en-US" sz="1500"/>
          </a:p>
        </p:txBody>
      </p:sp>
      <p:sp>
        <p:nvSpPr>
          <p:cNvPr id="2005911293" name="Shape 23"/>
          <p:cNvSpPr/>
          <p:nvPr/>
        </p:nvSpPr>
        <p:spPr bwMode="auto">
          <a:xfrm flipH="0" flipV="0">
            <a:off x="731520" y="3547872"/>
            <a:ext cx="4663440" cy="2206271"/>
          </a:xfrm>
          <a:prstGeom prst="roundRect">
            <a:avLst>
              <a:gd name="adj" fmla="val 3556"/>
            </a:avLst>
          </a:prstGeom>
          <a:solidFill>
            <a:srgbClr val="F2F6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17041932" name="Text 24"/>
          <p:cNvSpPr/>
          <p:nvPr/>
        </p:nvSpPr>
        <p:spPr bwMode="auto">
          <a:xfrm>
            <a:off x="1024128" y="3803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F6B9A"/>
                </a:solidFill>
              </a:rPr>
              <a:t>utils.py</a:t>
            </a:r>
            <a:endParaRPr lang="en-US" sz="1800"/>
          </a:p>
        </p:txBody>
      </p:sp>
      <p:sp>
        <p:nvSpPr>
          <p:cNvPr id="1449398347" name="Text 25"/>
          <p:cNvSpPr/>
          <p:nvPr/>
        </p:nvSpPr>
        <p:spPr bwMode="auto">
          <a:xfrm>
            <a:off x="1024128" y="416051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</a:rPr>
              <a:t>Funciones del juego</a:t>
            </a:r>
            <a:endParaRPr lang="en-US" sz="1100"/>
          </a:p>
        </p:txBody>
      </p:sp>
      <p:sp>
        <p:nvSpPr>
          <p:cNvPr id="1908582525" name="Shape 26"/>
          <p:cNvSpPr/>
          <p:nvPr/>
        </p:nvSpPr>
        <p:spPr bwMode="auto">
          <a:xfrm>
            <a:off x="987552" y="4517136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47633160" name="Text 27"/>
          <p:cNvSpPr/>
          <p:nvPr/>
        </p:nvSpPr>
        <p:spPr bwMode="auto">
          <a:xfrm>
            <a:off x="1060704" y="457200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crear_tablero</a:t>
            </a:r>
            <a:endParaRPr lang="en-US" sz="1000"/>
          </a:p>
        </p:txBody>
      </p:sp>
      <p:sp>
        <p:nvSpPr>
          <p:cNvPr id="1495095965" name="Shape 28"/>
          <p:cNvSpPr/>
          <p:nvPr/>
        </p:nvSpPr>
        <p:spPr bwMode="auto">
          <a:xfrm>
            <a:off x="987552" y="4800600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8208142" name="Text 29"/>
          <p:cNvSpPr/>
          <p:nvPr/>
        </p:nvSpPr>
        <p:spPr bwMode="auto">
          <a:xfrm>
            <a:off x="1060704" y="485546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crear_barco</a:t>
            </a:r>
            <a:endParaRPr lang="en-US" sz="1000"/>
          </a:p>
        </p:txBody>
      </p:sp>
      <p:sp>
        <p:nvSpPr>
          <p:cNvPr id="56156660" name="Shape 30"/>
          <p:cNvSpPr/>
          <p:nvPr/>
        </p:nvSpPr>
        <p:spPr bwMode="auto">
          <a:xfrm>
            <a:off x="987552" y="5084064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0153551" name="Text 31"/>
          <p:cNvSpPr/>
          <p:nvPr/>
        </p:nvSpPr>
        <p:spPr bwMode="auto">
          <a:xfrm>
            <a:off x="1060704" y="513892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colocar_barcos</a:t>
            </a:r>
            <a:endParaRPr lang="en-US" sz="1000"/>
          </a:p>
        </p:txBody>
      </p:sp>
      <p:sp>
        <p:nvSpPr>
          <p:cNvPr id="1412932196" name="Shape 32"/>
          <p:cNvSpPr/>
          <p:nvPr/>
        </p:nvSpPr>
        <p:spPr bwMode="auto">
          <a:xfrm>
            <a:off x="987552" y="5367528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1113935" name="Text 33"/>
          <p:cNvSpPr/>
          <p:nvPr/>
        </p:nvSpPr>
        <p:spPr bwMode="auto">
          <a:xfrm>
            <a:off x="1060704" y="54223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disparar</a:t>
            </a:r>
            <a:endParaRPr lang="en-US" sz="1000"/>
          </a:p>
        </p:txBody>
      </p:sp>
      <p:sp>
        <p:nvSpPr>
          <p:cNvPr id="288373002" name="Shape 34"/>
          <p:cNvSpPr/>
          <p:nvPr/>
        </p:nvSpPr>
        <p:spPr bwMode="auto">
          <a:xfrm>
            <a:off x="3090672" y="4517136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3219536" name="Text 35"/>
          <p:cNvSpPr/>
          <p:nvPr/>
        </p:nvSpPr>
        <p:spPr bwMode="auto">
          <a:xfrm>
            <a:off x="3163824" y="4572000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ganar</a:t>
            </a:r>
            <a:endParaRPr lang="en-US" sz="1000"/>
          </a:p>
        </p:txBody>
      </p:sp>
      <p:sp>
        <p:nvSpPr>
          <p:cNvPr id="1165549026" name="Shape 36"/>
          <p:cNvSpPr/>
          <p:nvPr/>
        </p:nvSpPr>
        <p:spPr bwMode="auto">
          <a:xfrm>
            <a:off x="3090672" y="4800600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2386197" name="Text 37"/>
          <p:cNvSpPr/>
          <p:nvPr/>
        </p:nvSpPr>
        <p:spPr bwMode="auto">
          <a:xfrm>
            <a:off x="3163824" y="485546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mostrar_tableros</a:t>
            </a:r>
            <a:endParaRPr lang="en-US" sz="1000"/>
          </a:p>
        </p:txBody>
      </p:sp>
      <p:sp>
        <p:nvSpPr>
          <p:cNvPr id="2056394883" name="Shape 38"/>
          <p:cNvSpPr/>
          <p:nvPr/>
        </p:nvSpPr>
        <p:spPr bwMode="auto">
          <a:xfrm>
            <a:off x="3090672" y="5084064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4481612" name="Text 39"/>
          <p:cNvSpPr/>
          <p:nvPr/>
        </p:nvSpPr>
        <p:spPr bwMode="auto">
          <a:xfrm>
            <a:off x="3163824" y="513892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turno_jugador</a:t>
            </a:r>
            <a:endParaRPr lang="en-US" sz="1000"/>
          </a:p>
        </p:txBody>
      </p:sp>
      <p:sp>
        <p:nvSpPr>
          <p:cNvPr id="26162599" name="Shape 40"/>
          <p:cNvSpPr/>
          <p:nvPr/>
        </p:nvSpPr>
        <p:spPr bwMode="auto">
          <a:xfrm>
            <a:off x="3090672" y="5367528"/>
            <a:ext cx="1856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2458085" name="Text 41"/>
          <p:cNvSpPr/>
          <p:nvPr/>
        </p:nvSpPr>
        <p:spPr bwMode="auto">
          <a:xfrm>
            <a:off x="3163824" y="5422392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7324D"/>
                </a:solidFill>
              </a:rPr>
              <a:t>turno_maquina</a:t>
            </a:r>
            <a:endParaRPr lang="en-US" sz="1000"/>
          </a:p>
        </p:txBody>
      </p:sp>
      <p:sp>
        <p:nvSpPr>
          <p:cNvPr id="386562797" name="Shape 42"/>
          <p:cNvSpPr/>
          <p:nvPr/>
        </p:nvSpPr>
        <p:spPr bwMode="auto">
          <a:xfrm flipH="0" flipV="0">
            <a:off x="6400800" y="3547872"/>
            <a:ext cx="5074920" cy="2206271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818096536" name="Text 43"/>
          <p:cNvSpPr/>
          <p:nvPr/>
        </p:nvSpPr>
        <p:spPr bwMode="auto">
          <a:xfrm>
            <a:off x="6720840" y="3803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F855A"/>
                </a:solidFill>
              </a:rPr>
              <a:t>main.py</a:t>
            </a:r>
            <a:endParaRPr lang="en-US" sz="1800"/>
          </a:p>
        </p:txBody>
      </p:sp>
      <p:sp>
        <p:nvSpPr>
          <p:cNvPr id="1939691170" name="Text 44"/>
          <p:cNvSpPr/>
          <p:nvPr/>
        </p:nvSpPr>
        <p:spPr bwMode="auto">
          <a:xfrm>
            <a:off x="6720840" y="416051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</a:rPr>
              <a:t>Flujo principal</a:t>
            </a:r>
            <a:endParaRPr lang="en-US" sz="1100"/>
          </a:p>
        </p:txBody>
      </p:sp>
      <p:sp>
        <p:nvSpPr>
          <p:cNvPr id="1660752412" name="Text 45"/>
          <p:cNvSpPr/>
          <p:nvPr/>
        </p:nvSpPr>
        <p:spPr bwMode="auto">
          <a:xfrm>
            <a:off x="6766560" y="4526280"/>
            <a:ext cx="2560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24364B"/>
                </a:solidFill>
              </a:rPr>
              <a:t>1. Crear tableros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24364B"/>
                </a:solidFill>
              </a:rPr>
              <a:t>2. Aceptar posiciones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24364B"/>
                </a:solidFill>
              </a:rPr>
              <a:t>3. Alternar turnos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24364B"/>
                </a:solidFill>
              </a:rPr>
              <a:t>4. Comprobar ganador</a:t>
            </a:r>
            <a:endParaRPr lang="en-US" sz="1400"/>
          </a:p>
        </p:txBody>
      </p:sp>
      <p:sp>
        <p:nvSpPr>
          <p:cNvPr id="206355826" name="Shape 46"/>
          <p:cNvSpPr/>
          <p:nvPr/>
        </p:nvSpPr>
        <p:spPr bwMode="auto">
          <a:xfrm>
            <a:off x="5440680" y="4572000"/>
            <a:ext cx="822960" cy="0"/>
          </a:xfrm>
          <a:prstGeom prst="line">
            <a:avLst/>
          </a:prstGeom>
          <a:noFill/>
          <a:ln w="31750">
            <a:solidFill>
              <a:srgbClr val="2F6B9A"/>
            </a:solidFill>
            <a:prstDash val="solid"/>
            <a:headEnd type="none"/>
            <a:tailEnd type="triangle"/>
          </a:ln>
        </p:spPr>
      </p:sp>
      <p:sp>
        <p:nvSpPr>
          <p:cNvPr id="1526655869" name="Text 47"/>
          <p:cNvSpPr/>
          <p:nvPr/>
        </p:nvSpPr>
        <p:spPr bwMode="auto">
          <a:xfrm>
            <a:off x="5486400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importa</a:t>
            </a:r>
            <a:endParaRPr lang="en-US" sz="1000"/>
          </a:p>
        </p:txBody>
      </p:sp>
      <p:sp>
        <p:nvSpPr>
          <p:cNvPr id="159221437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159645" name="Text 0"/>
          <p:cNvSpPr/>
          <p:nvPr/>
        </p:nvSpPr>
        <p:spPr bwMode="auto">
          <a:xfrm>
            <a:off x="59436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0263D"/>
                </a:solidFill>
                <a:latin typeface="Aptos Display"/>
                <a:ea typeface="Aptos Display"/>
                <a:cs typeface="Aptos Display"/>
              </a:rPr>
              <a:t>2. Cómo funciona por dentro</a:t>
            </a:r>
            <a:endParaRPr lang="en-US" sz="2700"/>
          </a:p>
        </p:txBody>
      </p:sp>
      <p:sp>
        <p:nvSpPr>
          <p:cNvPr id="718765050" name="Text 1"/>
          <p:cNvSpPr/>
          <p:nvPr/>
        </p:nvSpPr>
        <p:spPr bwMode="auto">
          <a:xfrm>
            <a:off x="612648" y="93268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</a:rPr>
              <a:t>Cada función tiene una responsabilidad concreta</a:t>
            </a:r>
            <a:endParaRPr lang="en-US" sz="1250"/>
          </a:p>
        </p:txBody>
      </p:sp>
      <p:sp>
        <p:nvSpPr>
          <p:cNvPr id="476355494" name="Shape 2"/>
          <p:cNvSpPr/>
          <p:nvPr/>
        </p:nvSpPr>
        <p:spPr bwMode="auto">
          <a:xfrm>
            <a:off x="658368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84702365" name="Text 3"/>
          <p:cNvSpPr/>
          <p:nvPr/>
        </p:nvSpPr>
        <p:spPr bwMode="auto">
          <a:xfrm>
            <a:off x="822960" y="1563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crear_tablero()</a:t>
            </a:r>
            <a:endParaRPr lang="en-US" sz="1300"/>
          </a:p>
        </p:txBody>
      </p:sp>
      <p:sp>
        <p:nvSpPr>
          <p:cNvPr id="348115307" name="Text 4"/>
          <p:cNvSpPr/>
          <p:nvPr/>
        </p:nvSpPr>
        <p:spPr bwMode="auto">
          <a:xfrm>
            <a:off x="822960" y="1856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Crea la matriz NumPy llena de “_”.</a:t>
            </a:r>
            <a:endParaRPr lang="en-US" sz="1050"/>
          </a:p>
        </p:txBody>
      </p:sp>
      <p:sp>
        <p:nvSpPr>
          <p:cNvPr id="714173901" name="Shape 5"/>
          <p:cNvSpPr/>
          <p:nvPr/>
        </p:nvSpPr>
        <p:spPr bwMode="auto">
          <a:xfrm>
            <a:off x="3721608" y="1417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919661732" name="Text 6"/>
          <p:cNvSpPr/>
          <p:nvPr/>
        </p:nvSpPr>
        <p:spPr bwMode="auto">
          <a:xfrm>
            <a:off x="3886200" y="1563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crear_barco()</a:t>
            </a:r>
            <a:endParaRPr lang="en-US" sz="1300"/>
          </a:p>
        </p:txBody>
      </p:sp>
      <p:sp>
        <p:nvSpPr>
          <p:cNvPr id="165587449" name="Text 7"/>
          <p:cNvSpPr/>
          <p:nvPr/>
        </p:nvSpPr>
        <p:spPr bwMode="auto">
          <a:xfrm>
            <a:off x="3886200" y="1856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Genera coordenadas aleatorias horizontal/vertical.</a:t>
            </a:r>
            <a:endParaRPr lang="en-US" sz="1050"/>
          </a:p>
        </p:txBody>
      </p:sp>
      <p:sp>
        <p:nvSpPr>
          <p:cNvPr id="2142914796" name="Shape 8"/>
          <p:cNvSpPr/>
          <p:nvPr/>
        </p:nvSpPr>
        <p:spPr bwMode="auto">
          <a:xfrm>
            <a:off x="658368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482846029" name="Text 9"/>
          <p:cNvSpPr/>
          <p:nvPr/>
        </p:nvSpPr>
        <p:spPr bwMode="auto">
          <a:xfrm>
            <a:off x="822960" y="2706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colocar_barcos()</a:t>
            </a:r>
            <a:endParaRPr lang="en-US" sz="1300"/>
          </a:p>
        </p:txBody>
      </p:sp>
      <p:sp>
        <p:nvSpPr>
          <p:cNvPr id="553284376" name="Text 10"/>
          <p:cNvSpPr/>
          <p:nvPr/>
        </p:nvSpPr>
        <p:spPr bwMode="auto">
          <a:xfrm>
            <a:off x="822960" y="2999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Coloca 6 barcos y evita colisiones.</a:t>
            </a:r>
            <a:endParaRPr lang="en-US" sz="1050"/>
          </a:p>
        </p:txBody>
      </p:sp>
      <p:sp>
        <p:nvSpPr>
          <p:cNvPr id="787405397" name="Shape 11"/>
          <p:cNvSpPr/>
          <p:nvPr/>
        </p:nvSpPr>
        <p:spPr bwMode="auto">
          <a:xfrm>
            <a:off x="3721608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209174109" name="Text 12"/>
          <p:cNvSpPr/>
          <p:nvPr/>
        </p:nvSpPr>
        <p:spPr bwMode="auto">
          <a:xfrm>
            <a:off x="3886200" y="2706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disparar()</a:t>
            </a:r>
            <a:endParaRPr lang="en-US" sz="1300"/>
          </a:p>
        </p:txBody>
      </p:sp>
      <p:sp>
        <p:nvSpPr>
          <p:cNvPr id="77985282" name="Text 13"/>
          <p:cNvSpPr/>
          <p:nvPr/>
        </p:nvSpPr>
        <p:spPr bwMode="auto">
          <a:xfrm>
            <a:off x="3886200" y="2999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Convierte O→X y _→A.</a:t>
            </a:r>
            <a:endParaRPr lang="en-US" sz="1050"/>
          </a:p>
        </p:txBody>
      </p:sp>
      <p:sp>
        <p:nvSpPr>
          <p:cNvPr id="1709785945" name="Shape 14"/>
          <p:cNvSpPr/>
          <p:nvPr/>
        </p:nvSpPr>
        <p:spPr bwMode="auto">
          <a:xfrm>
            <a:off x="658368" y="3703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302664375" name="Text 15"/>
          <p:cNvSpPr/>
          <p:nvPr/>
        </p:nvSpPr>
        <p:spPr bwMode="auto">
          <a:xfrm>
            <a:off x="822960" y="3849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ganar()</a:t>
            </a:r>
            <a:endParaRPr lang="en-US" sz="1300"/>
          </a:p>
        </p:txBody>
      </p:sp>
      <p:sp>
        <p:nvSpPr>
          <p:cNvPr id="1811858668" name="Text 16"/>
          <p:cNvSpPr/>
          <p:nvPr/>
        </p:nvSpPr>
        <p:spPr bwMode="auto">
          <a:xfrm>
            <a:off x="822960" y="4142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Comprueba si todavía queda alguna “O”.</a:t>
            </a:r>
            <a:endParaRPr lang="en-US" sz="1050"/>
          </a:p>
        </p:txBody>
      </p:sp>
      <p:sp>
        <p:nvSpPr>
          <p:cNvPr id="1731683812" name="Shape 17"/>
          <p:cNvSpPr/>
          <p:nvPr/>
        </p:nvSpPr>
        <p:spPr bwMode="auto">
          <a:xfrm>
            <a:off x="3721608" y="3703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701022578" name="Text 18"/>
          <p:cNvSpPr/>
          <p:nvPr/>
        </p:nvSpPr>
        <p:spPr bwMode="auto">
          <a:xfrm>
            <a:off x="3886200" y="3849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turno_jugador()</a:t>
            </a:r>
            <a:endParaRPr lang="en-US" sz="1300"/>
          </a:p>
        </p:txBody>
      </p:sp>
      <p:sp>
        <p:nvSpPr>
          <p:cNvPr id="1288759829" name="Text 19"/>
          <p:cNvSpPr/>
          <p:nvPr/>
        </p:nvSpPr>
        <p:spPr bwMode="auto">
          <a:xfrm>
            <a:off x="3886200" y="4142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Input, validación y disparos repetidos.</a:t>
            </a:r>
            <a:endParaRPr lang="en-US" sz="1050"/>
          </a:p>
        </p:txBody>
      </p:sp>
      <p:sp>
        <p:nvSpPr>
          <p:cNvPr id="564693286" name="Shape 20"/>
          <p:cNvSpPr/>
          <p:nvPr/>
        </p:nvSpPr>
        <p:spPr bwMode="auto">
          <a:xfrm>
            <a:off x="658368" y="4846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640037918" name="Text 21"/>
          <p:cNvSpPr/>
          <p:nvPr/>
        </p:nvSpPr>
        <p:spPr bwMode="auto">
          <a:xfrm>
            <a:off x="822960" y="4992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turno_maquina()</a:t>
            </a:r>
            <a:endParaRPr lang="en-US" sz="1300"/>
          </a:p>
        </p:txBody>
      </p:sp>
      <p:sp>
        <p:nvSpPr>
          <p:cNvPr id="522509995" name="Text 22"/>
          <p:cNvSpPr/>
          <p:nvPr/>
        </p:nvSpPr>
        <p:spPr bwMode="auto">
          <a:xfrm>
            <a:off x="822960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Elige coordenadas aleatorias no usadas.</a:t>
            </a:r>
            <a:endParaRPr lang="en-US" sz="1050"/>
          </a:p>
        </p:txBody>
      </p:sp>
      <p:sp>
        <p:nvSpPr>
          <p:cNvPr id="289593514" name="Shape 23"/>
          <p:cNvSpPr/>
          <p:nvPr/>
        </p:nvSpPr>
        <p:spPr bwMode="auto">
          <a:xfrm>
            <a:off x="3721608" y="4846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615714487" name="Text 24"/>
          <p:cNvSpPr/>
          <p:nvPr/>
        </p:nvSpPr>
        <p:spPr bwMode="auto">
          <a:xfrm>
            <a:off x="3886200" y="4992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7324D"/>
                </a:solidFill>
              </a:rPr>
              <a:t>mostrar_tableros()</a:t>
            </a:r>
            <a:endParaRPr lang="en-US" sz="1300"/>
          </a:p>
        </p:txBody>
      </p:sp>
      <p:sp>
        <p:nvSpPr>
          <p:cNvPr id="728811533" name="Text 25"/>
          <p:cNvSpPr/>
          <p:nvPr/>
        </p:nvSpPr>
        <p:spPr bwMode="auto">
          <a:xfrm>
            <a:off x="3886200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Presenta los dos tableros en terminal.</a:t>
            </a:r>
            <a:endParaRPr lang="en-US" sz="1050"/>
          </a:p>
        </p:txBody>
      </p:sp>
      <p:sp>
        <p:nvSpPr>
          <p:cNvPr id="464593145" name="Shape 26"/>
          <p:cNvSpPr/>
          <p:nvPr/>
        </p:nvSpPr>
        <p:spPr bwMode="auto">
          <a:xfrm>
            <a:off x="6967728" y="141732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54301270" name="Shape 27"/>
          <p:cNvSpPr/>
          <p:nvPr/>
        </p:nvSpPr>
        <p:spPr bwMode="auto">
          <a:xfrm>
            <a:off x="7132320" y="154533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29345260" name="Shape 28"/>
          <p:cNvSpPr/>
          <p:nvPr/>
        </p:nvSpPr>
        <p:spPr bwMode="auto">
          <a:xfrm>
            <a:off x="7278624" y="1545336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82251204" name="Shape 29"/>
          <p:cNvSpPr/>
          <p:nvPr/>
        </p:nvSpPr>
        <p:spPr bwMode="auto">
          <a:xfrm>
            <a:off x="7424928" y="1545336"/>
            <a:ext cx="82296" cy="82296"/>
          </a:xfrm>
          <a:prstGeom prst="ellipse">
            <a:avLst/>
          </a:prstGeom>
          <a:solidFill>
            <a:srgbClr val="63D471"/>
          </a:solidFill>
          <a:ln w="12700">
            <a:solidFill>
              <a:srgbClr val="63D471"/>
            </a:solidFill>
            <a:prstDash val="solid"/>
          </a:ln>
        </p:spPr>
      </p:sp>
      <p:sp>
        <p:nvSpPr>
          <p:cNvPr id="765617767" name="Text 30"/>
          <p:cNvSpPr/>
          <p:nvPr/>
        </p:nvSpPr>
        <p:spPr bwMode="auto">
          <a:xfrm>
            <a:off x="7168896" y="1801367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CE7F0"/>
                </a:solidFill>
                <a:latin typeface="Courier New"/>
                <a:ea typeface="Courier New"/>
                <a:cs typeface="Courier New"/>
              </a:rPr>
              <a:t>--- TU TURNO ---</a:t>
            </a:r>
            <a:endParaRPr lang="en-US" sz="1000"/>
          </a:p>
        </p:txBody>
      </p:sp>
      <p:sp>
        <p:nvSpPr>
          <p:cNvPr id="828566913" name="Text 31"/>
          <p:cNvSpPr/>
          <p:nvPr/>
        </p:nvSpPr>
        <p:spPr bwMode="auto">
          <a:xfrm>
            <a:off x="7168896" y="2084832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Dime una coordenada: 3,5</a:t>
            </a:r>
            <a:endParaRPr lang="en-US" sz="1000"/>
          </a:p>
        </p:txBody>
      </p:sp>
      <p:sp>
        <p:nvSpPr>
          <p:cNvPr id="1960854989" name="Text 32"/>
          <p:cNvSpPr/>
          <p:nvPr/>
        </p:nvSpPr>
        <p:spPr bwMode="auto">
          <a:xfrm>
            <a:off x="7168896" y="2368296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ED0EA"/>
                </a:solidFill>
                <a:latin typeface="Courier New"/>
                <a:ea typeface="Courier New"/>
                <a:cs typeface="Courier New"/>
              </a:rPr>
              <a:t>TU TABLERO      TABLERO ENEMIGO</a:t>
            </a:r>
            <a:endParaRPr lang="en-US" sz="1000"/>
          </a:p>
        </p:txBody>
      </p:sp>
      <p:sp>
        <p:nvSpPr>
          <p:cNvPr id="607826666" name="Text 33"/>
          <p:cNvSpPr/>
          <p:nvPr/>
        </p:nvSpPr>
        <p:spPr bwMode="auto">
          <a:xfrm>
            <a:off x="7168896" y="2651760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CE7F0"/>
                </a:solidFill>
                <a:latin typeface="Courier New"/>
                <a:ea typeface="Courier New"/>
                <a:cs typeface="Courier New"/>
              </a:rPr>
              <a:t>_ _ O _ _       _ _ _ _ _</a:t>
            </a:r>
            <a:endParaRPr lang="en-US" sz="1000"/>
          </a:p>
        </p:txBody>
      </p:sp>
      <p:sp>
        <p:nvSpPr>
          <p:cNvPr id="1300483011" name="Text 34"/>
          <p:cNvSpPr/>
          <p:nvPr/>
        </p:nvSpPr>
        <p:spPr bwMode="auto">
          <a:xfrm>
            <a:off x="7168896" y="2935224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CE7F0"/>
                </a:solidFill>
                <a:latin typeface="Courier New"/>
                <a:ea typeface="Courier New"/>
                <a:cs typeface="Courier New"/>
              </a:rPr>
              <a:t>_ _ O _ _       _ _ A _ _</a:t>
            </a:r>
            <a:endParaRPr lang="en-US" sz="1000"/>
          </a:p>
        </p:txBody>
      </p:sp>
      <p:sp>
        <p:nvSpPr>
          <p:cNvPr id="565209087" name="Text 35"/>
          <p:cNvSpPr/>
          <p:nvPr/>
        </p:nvSpPr>
        <p:spPr bwMode="auto">
          <a:xfrm>
            <a:off x="7168896" y="3218688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CE7F0"/>
                </a:solidFill>
                <a:latin typeface="Courier New"/>
                <a:ea typeface="Courier New"/>
                <a:cs typeface="Courier New"/>
              </a:rPr>
              <a:t>_ _ _ _ _       _ _ _ X _</a:t>
            </a:r>
            <a:endParaRPr lang="en-US" sz="1000"/>
          </a:p>
        </p:txBody>
      </p:sp>
      <p:sp>
        <p:nvSpPr>
          <p:cNvPr id="260289418" name="Text 36"/>
          <p:cNvSpPr/>
          <p:nvPr/>
        </p:nvSpPr>
        <p:spPr bwMode="auto">
          <a:xfrm>
            <a:off x="7086600" y="6126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2F855A"/>
                </a:solidFill>
              </a:rPr>
              <a:t>Resultado: código modular y fácil de probar</a:t>
            </a:r>
            <a:endParaRPr lang="en-US" sz="1250"/>
          </a:p>
        </p:txBody>
      </p:sp>
      <p:sp>
        <p:nvSpPr>
          <p:cNvPr id="835936101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660862" name="Text 0"/>
          <p:cNvSpPr/>
          <p:nvPr/>
        </p:nvSpPr>
        <p:spPr bwMode="auto">
          <a:xfrm>
            <a:off x="59436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0263D"/>
                </a:solidFill>
                <a:latin typeface="Aptos Display"/>
                <a:ea typeface="Aptos Display"/>
                <a:cs typeface="Aptos Display"/>
              </a:rPr>
              <a:t>3. Mapa de flujo de la partida</a:t>
            </a:r>
            <a:endParaRPr lang="en-US" sz="2700"/>
          </a:p>
        </p:txBody>
      </p:sp>
      <p:sp>
        <p:nvSpPr>
          <p:cNvPr id="99594222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8740098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79117" y="914399"/>
            <a:ext cx="8597691" cy="57317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880010" name="Text 0"/>
          <p:cNvSpPr/>
          <p:nvPr/>
        </p:nvSpPr>
        <p:spPr bwMode="auto">
          <a:xfrm>
            <a:off x="59436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0263D"/>
                </a:solidFill>
                <a:latin typeface="Aptos Display"/>
                <a:ea typeface="Aptos Display"/>
                <a:cs typeface="Aptos Display"/>
              </a:rPr>
              <a:t>4. Problemas encontrados y mejoras</a:t>
            </a:r>
            <a:endParaRPr lang="en-US" sz="2700"/>
          </a:p>
        </p:txBody>
      </p:sp>
      <p:sp>
        <p:nvSpPr>
          <p:cNvPr id="355422330" name="Text 1"/>
          <p:cNvSpPr/>
          <p:nvPr/>
        </p:nvSpPr>
        <p:spPr bwMode="auto">
          <a:xfrm>
            <a:off x="612648" y="932688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</a:rPr>
              <a:t>Lo que aprendí al construirlo y qué haría después</a:t>
            </a:r>
            <a:endParaRPr lang="en-US" sz="1250"/>
          </a:p>
        </p:txBody>
      </p:sp>
      <p:sp>
        <p:nvSpPr>
          <p:cNvPr id="896188028" name="Text 2"/>
          <p:cNvSpPr/>
          <p:nvPr/>
        </p:nvSpPr>
        <p:spPr bwMode="auto">
          <a:xfrm>
            <a:off x="68580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B44A4A"/>
                </a:solidFill>
              </a:rPr>
              <a:t>PROBLEMAS QUE HE RESUELTO</a:t>
            </a:r>
            <a:endParaRPr lang="en-US" sz="1400"/>
          </a:p>
        </p:txBody>
      </p:sp>
      <p:sp>
        <p:nvSpPr>
          <p:cNvPr id="1924135325" name="Shape 3"/>
          <p:cNvSpPr/>
          <p:nvPr/>
        </p:nvSpPr>
        <p:spPr bwMode="auto">
          <a:xfrm>
            <a:off x="685800" y="169164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9F9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956739309" name="Shape 4"/>
          <p:cNvSpPr/>
          <p:nvPr/>
        </p:nvSpPr>
        <p:spPr bwMode="auto">
          <a:xfrm>
            <a:off x="685800" y="1691640"/>
            <a:ext cx="73152" cy="822960"/>
          </a:xfrm>
          <a:prstGeom prst="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1888900617" name="Text 5"/>
          <p:cNvSpPr/>
          <p:nvPr/>
        </p:nvSpPr>
        <p:spPr bwMode="auto">
          <a:xfrm>
            <a:off x="886968" y="1837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Solapamiento de barcos</a:t>
            </a:r>
            <a:endParaRPr lang="en-US" sz="1400"/>
          </a:p>
        </p:txBody>
      </p:sp>
      <p:sp>
        <p:nvSpPr>
          <p:cNvPr id="1279340250" name="Text 6"/>
          <p:cNvSpPr/>
          <p:nvPr/>
        </p:nvSpPr>
        <p:spPr bwMode="auto">
          <a:xfrm>
            <a:off x="886968" y="2176272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Se resolvió comprobando cada coordenada antes de colocar.</a:t>
            </a:r>
            <a:endParaRPr lang="en-US" sz="1050"/>
          </a:p>
        </p:txBody>
      </p:sp>
      <p:sp>
        <p:nvSpPr>
          <p:cNvPr id="191001457" name="Shape 7"/>
          <p:cNvSpPr/>
          <p:nvPr/>
        </p:nvSpPr>
        <p:spPr bwMode="auto">
          <a:xfrm>
            <a:off x="685800" y="2715768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410610771" name="Shape 8"/>
          <p:cNvSpPr/>
          <p:nvPr/>
        </p:nvSpPr>
        <p:spPr bwMode="auto">
          <a:xfrm>
            <a:off x="685800" y="2715768"/>
            <a:ext cx="73152" cy="822960"/>
          </a:xfrm>
          <a:prstGeom prst="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1038463426" name="Text 9"/>
          <p:cNvSpPr/>
          <p:nvPr/>
        </p:nvSpPr>
        <p:spPr bwMode="auto">
          <a:xfrm>
            <a:off x="886968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Salir del tablero</a:t>
            </a:r>
            <a:endParaRPr lang="en-US" sz="1400"/>
          </a:p>
        </p:txBody>
      </p:sp>
      <p:sp>
        <p:nvSpPr>
          <p:cNvPr id="821848748" name="Text 10"/>
          <p:cNvSpPr/>
          <p:nvPr/>
        </p:nvSpPr>
        <p:spPr bwMode="auto">
          <a:xfrm>
            <a:off x="886968" y="3200400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La posición inicial se limita según la eslora.</a:t>
            </a:r>
            <a:endParaRPr lang="en-US" sz="1050"/>
          </a:p>
        </p:txBody>
      </p:sp>
      <p:sp>
        <p:nvSpPr>
          <p:cNvPr id="779652519" name="Shape 15"/>
          <p:cNvSpPr/>
          <p:nvPr/>
        </p:nvSpPr>
        <p:spPr bwMode="auto">
          <a:xfrm>
            <a:off x="676656" y="3813048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0491776" name="Shape 16"/>
          <p:cNvSpPr/>
          <p:nvPr/>
        </p:nvSpPr>
        <p:spPr bwMode="auto">
          <a:xfrm>
            <a:off x="676656" y="3813048"/>
            <a:ext cx="73152" cy="822960"/>
          </a:xfrm>
          <a:prstGeom prst="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590955" name="Text 17"/>
          <p:cNvSpPr/>
          <p:nvPr/>
        </p:nvSpPr>
        <p:spPr bwMode="auto">
          <a:xfrm>
            <a:off x="877824" y="3959351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break / continue</a:t>
            </a:r>
            <a:endParaRPr lang="en-US" sz="1400"/>
          </a:p>
        </p:txBody>
      </p:sp>
      <p:sp>
        <p:nvSpPr>
          <p:cNvPr id="537996128" name="Text 18"/>
          <p:cNvSpPr/>
          <p:nvPr/>
        </p:nvSpPr>
        <p:spPr bwMode="auto">
          <a:xfrm>
            <a:off x="877824" y="4297679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Separar cada turno en su propio while simplificó el flujo.</a:t>
            </a:r>
            <a:endParaRPr lang="en-US" sz="1050"/>
          </a:p>
        </p:txBody>
      </p:sp>
      <p:sp>
        <p:nvSpPr>
          <p:cNvPr id="358906994" name="Text 19"/>
          <p:cNvSpPr/>
          <p:nvPr/>
        </p:nvSpPr>
        <p:spPr bwMode="auto">
          <a:xfrm>
            <a:off x="6172200" y="1325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F855A"/>
                </a:solidFill>
              </a:rPr>
              <a:t>MEJORAS FUTURAS</a:t>
            </a:r>
            <a:endParaRPr lang="en-US" sz="1400"/>
          </a:p>
        </p:txBody>
      </p:sp>
      <p:sp>
        <p:nvSpPr>
          <p:cNvPr id="1263155128" name="Shape 20"/>
          <p:cNvSpPr/>
          <p:nvPr/>
        </p:nvSpPr>
        <p:spPr bwMode="auto">
          <a:xfrm>
            <a:off x="6172200" y="169164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6FCF8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1421599057" name="Shape 21"/>
          <p:cNvSpPr/>
          <p:nvPr/>
        </p:nvSpPr>
        <p:spPr bwMode="auto">
          <a:xfrm>
            <a:off x="6172200" y="1691640"/>
            <a:ext cx="73152" cy="822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9257267" name="Text 22"/>
          <p:cNvSpPr/>
          <p:nvPr/>
        </p:nvSpPr>
        <p:spPr bwMode="auto">
          <a:xfrm>
            <a:off x="6373368" y="1837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Detectar “hundido”</a:t>
            </a:r>
            <a:endParaRPr lang="en-US" sz="1400"/>
          </a:p>
        </p:txBody>
      </p:sp>
      <p:sp>
        <p:nvSpPr>
          <p:cNvPr id="1406601667" name="Text 23"/>
          <p:cNvSpPr/>
          <p:nvPr/>
        </p:nvSpPr>
        <p:spPr bwMode="auto">
          <a:xfrm>
            <a:off x="6373368" y="2176272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Guardar los barcos individualmente y saber cuándo se completa uno.</a:t>
            </a:r>
            <a:endParaRPr lang="en-US" sz="1050"/>
          </a:p>
        </p:txBody>
      </p:sp>
      <p:sp>
        <p:nvSpPr>
          <p:cNvPr id="1984600560" name="Shape 24"/>
          <p:cNvSpPr/>
          <p:nvPr/>
        </p:nvSpPr>
        <p:spPr bwMode="auto">
          <a:xfrm>
            <a:off x="6172200" y="2715768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753831339" name="Shape 25"/>
          <p:cNvSpPr/>
          <p:nvPr/>
        </p:nvSpPr>
        <p:spPr bwMode="auto">
          <a:xfrm>
            <a:off x="6172200" y="2715768"/>
            <a:ext cx="73152" cy="822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8779404" name="Text 26"/>
          <p:cNvSpPr/>
          <p:nvPr/>
        </p:nvSpPr>
        <p:spPr bwMode="auto">
          <a:xfrm>
            <a:off x="6373368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IA menos aleatoria</a:t>
            </a:r>
            <a:endParaRPr lang="en-US" sz="1400"/>
          </a:p>
        </p:txBody>
      </p:sp>
      <p:sp>
        <p:nvSpPr>
          <p:cNvPr id="259211485" name="Text 27"/>
          <p:cNvSpPr/>
          <p:nvPr/>
        </p:nvSpPr>
        <p:spPr bwMode="auto">
          <a:xfrm>
            <a:off x="6373368" y="3200400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Después de un acierto, atacar casillas cercanas.</a:t>
            </a:r>
            <a:endParaRPr lang="en-US" sz="1050"/>
          </a:p>
        </p:txBody>
      </p:sp>
      <p:sp>
        <p:nvSpPr>
          <p:cNvPr id="1512037219" name="Shape 28"/>
          <p:cNvSpPr/>
          <p:nvPr/>
        </p:nvSpPr>
        <p:spPr bwMode="auto">
          <a:xfrm>
            <a:off x="6172200" y="3739896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6FCF8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520324086" name="Shape 29"/>
          <p:cNvSpPr/>
          <p:nvPr/>
        </p:nvSpPr>
        <p:spPr bwMode="auto">
          <a:xfrm>
            <a:off x="6172200" y="3739896"/>
            <a:ext cx="73152" cy="822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35175563" name="Text 30"/>
          <p:cNvSpPr/>
          <p:nvPr/>
        </p:nvSpPr>
        <p:spPr bwMode="auto">
          <a:xfrm>
            <a:off x="6373368" y="3886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Más tests</a:t>
            </a:r>
            <a:endParaRPr lang="en-US" sz="1400"/>
          </a:p>
        </p:txBody>
      </p:sp>
      <p:sp>
        <p:nvSpPr>
          <p:cNvPr id="1669339788" name="Text 31"/>
          <p:cNvSpPr/>
          <p:nvPr/>
        </p:nvSpPr>
        <p:spPr bwMode="auto">
          <a:xfrm>
            <a:off x="6373368" y="4224528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Automatizar pruebas de colocación, disparos y victoria.</a:t>
            </a:r>
            <a:endParaRPr lang="en-US" sz="1050"/>
          </a:p>
        </p:txBody>
      </p:sp>
      <p:sp>
        <p:nvSpPr>
          <p:cNvPr id="696338949" name="Shape 32"/>
          <p:cNvSpPr/>
          <p:nvPr/>
        </p:nvSpPr>
        <p:spPr bwMode="auto">
          <a:xfrm>
            <a:off x="6172200" y="4764024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956905014" name="Shape 33"/>
          <p:cNvSpPr/>
          <p:nvPr/>
        </p:nvSpPr>
        <p:spPr bwMode="auto">
          <a:xfrm>
            <a:off x="6172200" y="4764024"/>
            <a:ext cx="73152" cy="822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6702767" name="Text 34"/>
          <p:cNvSpPr/>
          <p:nvPr/>
        </p:nvSpPr>
        <p:spPr bwMode="auto">
          <a:xfrm>
            <a:off x="6373368" y="49103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0263D"/>
                </a:solidFill>
              </a:rPr>
              <a:t>Mejor interfaz</a:t>
            </a:r>
            <a:endParaRPr lang="en-US" sz="1400"/>
          </a:p>
        </p:txBody>
      </p:sp>
      <p:sp>
        <p:nvSpPr>
          <p:cNvPr id="262277542" name="Text 35"/>
          <p:cNvSpPr/>
          <p:nvPr/>
        </p:nvSpPr>
        <p:spPr bwMode="auto">
          <a:xfrm>
            <a:off x="6373368" y="5248656"/>
            <a:ext cx="4480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Más feedback visual sin salir del terminal.</a:t>
            </a:r>
            <a:endParaRPr lang="en-US" sz="1050"/>
          </a:p>
        </p:txBody>
      </p:sp>
      <p:sp>
        <p:nvSpPr>
          <p:cNvPr id="1286812092" name="Shape 36"/>
          <p:cNvSpPr/>
          <p:nvPr/>
        </p:nvSpPr>
        <p:spPr bwMode="auto">
          <a:xfrm>
            <a:off x="713232" y="5925312"/>
            <a:ext cx="10927079" cy="411480"/>
          </a:xfrm>
          <a:prstGeom prst="roundRect">
            <a:avLst>
              <a:gd name="adj" fmla="val 1777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6931439" name="Text 37"/>
          <p:cNvSpPr/>
          <p:nvPr/>
        </p:nvSpPr>
        <p:spPr bwMode="auto">
          <a:xfrm>
            <a:off x="960120" y="602589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Resultado: juego funcional, modular y ejecutable desde terminal.</a:t>
            </a:r>
            <a:endParaRPr lang="en-US" sz="1300"/>
          </a:p>
        </p:txBody>
      </p:sp>
      <p:sp>
        <p:nvSpPr>
          <p:cNvPr id="51918018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75004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Hundir la Flota - Proyecto individual Python</dc:title>
  <dc:subject>Presentación proyecto Hundir la Flota</dc:subject>
  <dc:creator>OpenAI</dc:creator>
  <cp:lastModifiedBy/>
  <cp:revision>4</cp:revision>
  <dcterms:created xsi:type="dcterms:W3CDTF">2026-10-16T05:26:03Z</dcterms:created>
  <dcterms:modified xsi:type="dcterms:W3CDTF">2026-10-16T10:04:13Z</dcterms:modified>
</cp:coreProperties>
</file>